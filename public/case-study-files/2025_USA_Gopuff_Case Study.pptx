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
  </p:notesMasterIdLst>
  <p:sldIdLst>
    <p:sldId id="257" r:id="rId2"/>
    <p:sldId id="258" r:id="rId3"/>
    <p:sldId id="267"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93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06" autoAdjust="0"/>
    <p:restoredTop sz="94658"/>
  </p:normalViewPr>
  <p:slideViewPr>
    <p:cSldViewPr snapToGrid="0">
      <p:cViewPr varScale="1">
        <p:scale>
          <a:sx n="106" d="100"/>
          <a:sy n="106" d="100"/>
        </p:scale>
        <p:origin x="184" y="4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D5A877-9F33-453A-9FFC-286CD6F45893}" type="datetimeFigureOut">
              <a:rPr lang="en-US" smtClean="0"/>
              <a:t>3/4/26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2741F0-5747-485F-965A-1B6082F65732}" type="slidenum">
              <a:rPr lang="en-US" smtClean="0"/>
              <a:t>‹#›</a:t>
            </a:fld>
            <a:endParaRPr lang="en-US"/>
          </a:p>
        </p:txBody>
      </p:sp>
    </p:spTree>
    <p:extLst>
      <p:ext uri="{BB962C8B-B14F-4D97-AF65-F5344CB8AC3E}">
        <p14:creationId xmlns:p14="http://schemas.microsoft.com/office/powerpoint/2010/main" val="35155822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20283"/>
            <a:ext cx="5181600" cy="980017"/>
          </a:xfrm>
        </p:spPr>
        <p:txBody>
          <a:bodyPr/>
          <a:lstStyle/>
          <a:p>
            <a:r>
              <a:rPr lang="en-US"/>
              <a:t>Click to edit Master title style</a:t>
            </a:r>
          </a:p>
        </p:txBody>
      </p:sp>
      <p:sp>
        <p:nvSpPr>
          <p:cNvPr id="3" name="Subtitle 2"/>
          <p:cNvSpPr>
            <a:spLocks noGrp="1"/>
          </p:cNvSpPr>
          <p:nvPr>
            <p:ph type="subTitle" idx="1"/>
          </p:nvPr>
        </p:nvSpPr>
        <p:spPr>
          <a:xfrm>
            <a:off x="914400" y="2590800"/>
            <a:ext cx="4267200" cy="1168400"/>
          </a:xfrm>
        </p:spPr>
        <p:txBody>
          <a:bodyPr/>
          <a:lstStyle>
            <a:lvl1pPr marL="0" indent="0" algn="ctr">
              <a:buNone/>
              <a:defRPr>
                <a:solidFill>
                  <a:schemeClr val="tx1">
                    <a:tint val="75000"/>
                  </a:schemeClr>
                </a:solidFill>
              </a:defRPr>
            </a:lvl1pPr>
            <a:lvl2pPr marL="304815" indent="0" algn="ctr">
              <a:buNone/>
              <a:defRPr>
                <a:solidFill>
                  <a:schemeClr val="tx1">
                    <a:tint val="75000"/>
                  </a:schemeClr>
                </a:solidFill>
              </a:defRPr>
            </a:lvl2pPr>
            <a:lvl3pPr marL="609630" indent="0" algn="ctr">
              <a:buNone/>
              <a:defRPr>
                <a:solidFill>
                  <a:schemeClr val="tx1">
                    <a:tint val="75000"/>
                  </a:schemeClr>
                </a:solidFill>
              </a:defRPr>
            </a:lvl3pPr>
            <a:lvl4pPr marL="914446" indent="0" algn="ctr">
              <a:buNone/>
              <a:defRPr>
                <a:solidFill>
                  <a:schemeClr val="tx1">
                    <a:tint val="75000"/>
                  </a:schemeClr>
                </a:solidFill>
              </a:defRPr>
            </a:lvl4pPr>
            <a:lvl5pPr marL="1219261" indent="0" algn="ctr">
              <a:buNone/>
              <a:defRPr>
                <a:solidFill>
                  <a:schemeClr val="tx1">
                    <a:tint val="75000"/>
                  </a:schemeClr>
                </a:solidFill>
              </a:defRPr>
            </a:lvl5pPr>
            <a:lvl6pPr marL="1524076" indent="0" algn="ctr">
              <a:buNone/>
              <a:defRPr>
                <a:solidFill>
                  <a:schemeClr val="tx1">
                    <a:tint val="75000"/>
                  </a:schemeClr>
                </a:solidFill>
              </a:defRPr>
            </a:lvl6pPr>
            <a:lvl7pPr marL="1828891" indent="0" algn="ctr">
              <a:buNone/>
              <a:defRPr>
                <a:solidFill>
                  <a:schemeClr val="tx1">
                    <a:tint val="75000"/>
                  </a:schemeClr>
                </a:solidFill>
              </a:defRPr>
            </a:lvl7pPr>
            <a:lvl8pPr marL="2133707" indent="0" algn="ctr">
              <a:buNone/>
              <a:defRPr>
                <a:solidFill>
                  <a:schemeClr val="tx1">
                    <a:tint val="75000"/>
                  </a:schemeClr>
                </a:solidFill>
              </a:defRPr>
            </a:lvl8pPr>
            <a:lvl9pPr marL="243852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382111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8942767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81542" y="2937934"/>
            <a:ext cx="5181600" cy="908050"/>
          </a:xfrm>
        </p:spPr>
        <p:txBody>
          <a:bodyPr anchor="t"/>
          <a:lstStyle>
            <a:lvl1pPr algn="l">
              <a:defRPr sz="2667" b="1" cap="all"/>
            </a:lvl1pPr>
          </a:lstStyle>
          <a:p>
            <a:r>
              <a:rPr lang="en-US"/>
              <a:t>Click to edit Master title style</a:t>
            </a:r>
          </a:p>
        </p:txBody>
      </p:sp>
      <p:sp>
        <p:nvSpPr>
          <p:cNvPr id="3" name="Text Placeholder 2"/>
          <p:cNvSpPr>
            <a:spLocks noGrp="1"/>
          </p:cNvSpPr>
          <p:nvPr>
            <p:ph type="body" idx="1"/>
          </p:nvPr>
        </p:nvSpPr>
        <p:spPr>
          <a:xfrm>
            <a:off x="481542" y="1937809"/>
            <a:ext cx="5181600" cy="1000125"/>
          </a:xfrm>
        </p:spPr>
        <p:txBody>
          <a:bodyPr anchor="b"/>
          <a:lstStyle>
            <a:lvl1pPr marL="0" indent="0">
              <a:buNone/>
              <a:defRPr sz="1333">
                <a:solidFill>
                  <a:schemeClr val="tx1">
                    <a:tint val="75000"/>
                  </a:schemeClr>
                </a:solidFill>
              </a:defRPr>
            </a:lvl1pPr>
            <a:lvl2pPr marL="304815" indent="0">
              <a:buNone/>
              <a:defRPr sz="1200">
                <a:solidFill>
                  <a:schemeClr val="tx1">
                    <a:tint val="75000"/>
                  </a:schemeClr>
                </a:solidFill>
              </a:defRPr>
            </a:lvl2pPr>
            <a:lvl3pPr marL="609630" indent="0">
              <a:buNone/>
              <a:defRPr sz="1067">
                <a:solidFill>
                  <a:schemeClr val="tx1">
                    <a:tint val="75000"/>
                  </a:schemeClr>
                </a:solidFill>
              </a:defRPr>
            </a:lvl3pPr>
            <a:lvl4pPr marL="914446" indent="0">
              <a:buNone/>
              <a:defRPr sz="933">
                <a:solidFill>
                  <a:schemeClr val="tx1">
                    <a:tint val="75000"/>
                  </a:schemeClr>
                </a:solidFill>
              </a:defRPr>
            </a:lvl4pPr>
            <a:lvl5pPr marL="1219261" indent="0">
              <a:buNone/>
              <a:defRPr sz="933">
                <a:solidFill>
                  <a:schemeClr val="tx1">
                    <a:tint val="75000"/>
                  </a:schemeClr>
                </a:solidFill>
              </a:defRPr>
            </a:lvl5pPr>
            <a:lvl6pPr marL="1524076" indent="0">
              <a:buNone/>
              <a:defRPr sz="933">
                <a:solidFill>
                  <a:schemeClr val="tx1">
                    <a:tint val="75000"/>
                  </a:schemeClr>
                </a:solidFill>
              </a:defRPr>
            </a:lvl6pPr>
            <a:lvl7pPr marL="1828891" indent="0">
              <a:buNone/>
              <a:defRPr sz="933">
                <a:solidFill>
                  <a:schemeClr val="tx1">
                    <a:tint val="75000"/>
                  </a:schemeClr>
                </a:solidFill>
              </a:defRPr>
            </a:lvl7pPr>
            <a:lvl8pPr marL="2133707" indent="0">
              <a:buNone/>
              <a:defRPr sz="933">
                <a:solidFill>
                  <a:schemeClr val="tx1">
                    <a:tint val="75000"/>
                  </a:schemeClr>
                </a:solidFill>
              </a:defRPr>
            </a:lvl8pPr>
            <a:lvl9pPr marL="2438522" indent="0">
              <a:buNone/>
              <a:defRPr sz="93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6969269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98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931032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04800" y="1023409"/>
            <a:ext cx="2693459"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304800" y="1449917"/>
            <a:ext cx="2693459"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096684" y="1023409"/>
            <a:ext cx="2694517"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3096684" y="1449917"/>
            <a:ext cx="2694517"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870174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1903788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258760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0" y="182033"/>
            <a:ext cx="2005542" cy="774700"/>
          </a:xfrm>
        </p:spPr>
        <p:txBody>
          <a:bodyPr anchor="b"/>
          <a:lstStyle>
            <a:lvl1pPr algn="l">
              <a:defRPr sz="1333" b="1"/>
            </a:lvl1pPr>
          </a:lstStyle>
          <a:p>
            <a:r>
              <a:rPr lang="en-US"/>
              <a:t>Click to edit Master title style</a:t>
            </a:r>
          </a:p>
        </p:txBody>
      </p:sp>
      <p:sp>
        <p:nvSpPr>
          <p:cNvPr id="3" name="Content Placeholder 2"/>
          <p:cNvSpPr>
            <a:spLocks noGrp="1"/>
          </p:cNvSpPr>
          <p:nvPr>
            <p:ph idx="1"/>
          </p:nvPr>
        </p:nvSpPr>
        <p:spPr>
          <a:xfrm>
            <a:off x="2383367" y="182034"/>
            <a:ext cx="3407833" cy="3902075"/>
          </a:xfrm>
        </p:spPr>
        <p:txBody>
          <a:bodyPr/>
          <a:lstStyle>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0" y="956734"/>
            <a:ext cx="2005542" cy="31273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481244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4859" y="3200400"/>
            <a:ext cx="3657600" cy="377825"/>
          </a:xfrm>
        </p:spPr>
        <p:txBody>
          <a:bodyPr anchor="b"/>
          <a:lstStyle>
            <a:lvl1pPr algn="l">
              <a:defRPr sz="1333" b="1"/>
            </a:lvl1pPr>
          </a:lstStyle>
          <a:p>
            <a:r>
              <a:rPr lang="en-US"/>
              <a:t>Click to edit Master title style</a:t>
            </a:r>
          </a:p>
        </p:txBody>
      </p:sp>
      <p:sp>
        <p:nvSpPr>
          <p:cNvPr id="3" name="Picture Placeholder 2"/>
          <p:cNvSpPr>
            <a:spLocks noGrp="1"/>
          </p:cNvSpPr>
          <p:nvPr>
            <p:ph type="pic" idx="1"/>
          </p:nvPr>
        </p:nvSpPr>
        <p:spPr>
          <a:xfrm>
            <a:off x="1194859" y="408517"/>
            <a:ext cx="3657600" cy="2743200"/>
          </a:xfrm>
        </p:spPr>
        <p:txBody>
          <a:bodyPr/>
          <a:lstStyle>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endParaRPr lang="en-US"/>
          </a:p>
        </p:txBody>
      </p:sp>
      <p:sp>
        <p:nvSpPr>
          <p:cNvPr id="4" name="Text Placeholder 3"/>
          <p:cNvSpPr>
            <a:spLocks noGrp="1"/>
          </p:cNvSpPr>
          <p:nvPr>
            <p:ph type="body" sz="half" idx="2"/>
          </p:nvPr>
        </p:nvSpPr>
        <p:spPr>
          <a:xfrm>
            <a:off x="1194859" y="3578225"/>
            <a:ext cx="3657600" cy="5365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7443549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6856823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419600" y="183092"/>
            <a:ext cx="1371600" cy="390101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83092"/>
            <a:ext cx="4013200" cy="39010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599976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0"/>
            <a:ext cx="54864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67"/>
            <a:ext cx="1422400" cy="243417"/>
          </a:xfrm>
          <a:prstGeom prst="rect">
            <a:avLst/>
          </a:prstGeom>
        </p:spPr>
        <p:txBody>
          <a:bodyPr vert="horz" lIns="91440" tIns="45720" rIns="91440" bIns="45720" rtlCol="0" anchor="ctr"/>
          <a:lstStyle>
            <a:lvl1pPr algn="l">
              <a:defRPr sz="800">
                <a:solidFill>
                  <a:schemeClr val="tx1">
                    <a:tint val="75000"/>
                  </a:schemeClr>
                </a:solidFill>
              </a:defRPr>
            </a:lvl1pPr>
          </a:lstStyle>
          <a:p>
            <a:fld id="{1D8BD707-D9CF-40AE-B4C6-C98DA3205C09}" type="datetimeFigureOut">
              <a:rPr lang="en-US" smtClean="0"/>
              <a:pPr/>
              <a:t>3/4/26</a:t>
            </a:fld>
            <a:endParaRPr lang="en-US"/>
          </a:p>
        </p:txBody>
      </p:sp>
      <p:sp>
        <p:nvSpPr>
          <p:cNvPr id="5" name="Footer Placeholder 4"/>
          <p:cNvSpPr>
            <a:spLocks noGrp="1"/>
          </p:cNvSpPr>
          <p:nvPr>
            <p:ph type="ftr" sz="quarter" idx="3"/>
          </p:nvPr>
        </p:nvSpPr>
        <p:spPr>
          <a:xfrm>
            <a:off x="2082800" y="4237567"/>
            <a:ext cx="1930400" cy="243417"/>
          </a:xfrm>
          <a:prstGeom prst="rect">
            <a:avLst/>
          </a:prstGeom>
        </p:spPr>
        <p:txBody>
          <a:bodyPr vert="horz" lIns="91440" tIns="45720" rIns="91440" bIns="45720" rtlCol="0" anchor="ctr"/>
          <a:lstStyle>
            <a:lvl1pPr algn="ctr">
              <a:defRPr sz="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368800" y="4237567"/>
            <a:ext cx="1422400" cy="243417"/>
          </a:xfrm>
          <a:prstGeom prst="rect">
            <a:avLst/>
          </a:prstGeom>
        </p:spPr>
        <p:txBody>
          <a:bodyPr vert="horz" lIns="91440" tIns="45720" rIns="91440" bIns="45720" rtlCol="0" anchor="ctr"/>
          <a:lstStyle>
            <a:lvl1pPr algn="r">
              <a:defRPr sz="8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68990699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609630" rtl="0" eaLnBrk="1" latinLnBrk="0" hangingPunct="1">
        <a:spcBef>
          <a:spcPct val="0"/>
        </a:spcBef>
        <a:buNone/>
        <a:defRPr sz="2933" kern="1200">
          <a:solidFill>
            <a:schemeClr val="tx1"/>
          </a:solidFill>
          <a:latin typeface="+mj-lt"/>
          <a:ea typeface="+mj-ea"/>
          <a:cs typeface="+mj-cs"/>
        </a:defRPr>
      </a:lvl1pPr>
    </p:titleStyle>
    <p:body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reeform 5"/>
          <p:cNvSpPr/>
          <p:nvPr/>
        </p:nvSpPr>
        <p:spPr>
          <a:xfrm>
            <a:off x="685800" y="5415397"/>
            <a:ext cx="1740760" cy="756803"/>
          </a:xfrm>
          <a:custGeom>
            <a:avLst/>
            <a:gdLst/>
            <a:ahLst/>
            <a:cxnLst/>
            <a:rect l="l" t="t" r="r" b="b"/>
            <a:pathLst>
              <a:path w="2611140" h="1135205">
                <a:moveTo>
                  <a:pt x="0" y="0"/>
                </a:moveTo>
                <a:lnTo>
                  <a:pt x="2611140" y="0"/>
                </a:lnTo>
                <a:lnTo>
                  <a:pt x="2611140" y="1135205"/>
                </a:lnTo>
                <a:lnTo>
                  <a:pt x="0" y="1135205"/>
                </a:lnTo>
                <a:lnTo>
                  <a:pt x="0" y="0"/>
                </a:lnTo>
                <a:close/>
              </a:path>
            </a:pathLst>
          </a:custGeom>
          <a:blipFill>
            <a:blip r:embed="rId2"/>
            <a:stretch>
              <a:fillRect l="-115" r="-115"/>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6" name="TextBox 6"/>
          <p:cNvSpPr txBox="1"/>
          <p:nvPr/>
        </p:nvSpPr>
        <p:spPr>
          <a:xfrm>
            <a:off x="685800" y="952501"/>
            <a:ext cx="8692768" cy="981551"/>
          </a:xfrm>
          <a:prstGeom prst="rect">
            <a:avLst/>
          </a:prstGeom>
        </p:spPr>
        <p:txBody>
          <a:bodyPr lIns="0" tIns="0" rIns="0" bIns="0" rtlCol="0" anchor="t">
            <a:spAutoFit/>
          </a:bodyPr>
          <a:lstStyle/>
          <a:p>
            <a:pPr marL="0" marR="0" lvl="0" indent="0" algn="l" defTabSz="609630" rtl="0" eaLnBrk="1" fontAlgn="auto" latinLnBrk="0" hangingPunct="1">
              <a:lnSpc>
                <a:spcPts val="7470"/>
              </a:lnSpc>
              <a:spcBef>
                <a:spcPts val="0"/>
              </a:spcBef>
              <a:spcAft>
                <a:spcPts val="0"/>
              </a:spcAft>
              <a:buClrTx/>
              <a:buSzTx/>
              <a:buFontTx/>
              <a:buNone/>
              <a:tabLst/>
              <a:defRPr/>
            </a:pPr>
            <a:r>
              <a:rPr kumimoji="0" lang="en-US" sz="9337" b="1" i="0" u="none" strike="noStrike" kern="1200" cap="none" spc="-187" normalizeH="0" baseline="0" noProof="0" dirty="0">
                <a:ln>
                  <a:noFill/>
                </a:ln>
                <a:solidFill>
                  <a:srgbClr val="000000"/>
                </a:solidFill>
                <a:effectLst/>
                <a:uLnTx/>
                <a:uFillTx/>
                <a:latin typeface="MC Saatchi Bold"/>
                <a:ea typeface="MC Saatchi Bold"/>
                <a:cs typeface="MC Saatchi Bold"/>
                <a:sym typeface="MC Saatchi Bold"/>
              </a:rPr>
              <a:t>Case Study</a:t>
            </a:r>
          </a:p>
        </p:txBody>
      </p:sp>
      <p:grpSp>
        <p:nvGrpSpPr>
          <p:cNvPr id="8" name="Group 8"/>
          <p:cNvGrpSpPr/>
          <p:nvPr/>
        </p:nvGrpSpPr>
        <p:grpSpPr>
          <a:xfrm>
            <a:off x="10339776" y="-285327"/>
            <a:ext cx="2057400" cy="2057400"/>
            <a:chOff x="0" y="0"/>
            <a:chExt cx="812800" cy="812800"/>
          </a:xfrm>
        </p:grpSpPr>
        <p:sp>
          <p:nvSpPr>
            <p:cNvPr id="9" name="Freeform 9"/>
            <p:cNvSpPr/>
            <p:nvPr/>
          </p:nvSpPr>
          <p:spPr>
            <a:xfrm>
              <a:off x="0" y="0"/>
              <a:ext cx="812800" cy="812800"/>
            </a:xfrm>
            <a:custGeom>
              <a:avLst/>
              <a:gdLst/>
              <a:ahLst/>
              <a:cxnLst/>
              <a:rect l="l" t="t" r="r" b="b"/>
              <a:pathLst>
                <a:path w="812800" h="812800">
                  <a:moveTo>
                    <a:pt x="558800" y="0"/>
                  </a:moveTo>
                  <a:lnTo>
                    <a:pt x="254000" y="0"/>
                  </a:lnTo>
                  <a:lnTo>
                    <a:pt x="254000" y="254000"/>
                  </a:lnTo>
                  <a:lnTo>
                    <a:pt x="0" y="254000"/>
                  </a:lnTo>
                  <a:lnTo>
                    <a:pt x="0" y="558800"/>
                  </a:lnTo>
                  <a:lnTo>
                    <a:pt x="254000" y="558800"/>
                  </a:lnTo>
                  <a:lnTo>
                    <a:pt x="254000" y="812800"/>
                  </a:lnTo>
                  <a:lnTo>
                    <a:pt x="558800" y="812800"/>
                  </a:lnTo>
                  <a:lnTo>
                    <a:pt x="558800" y="558800"/>
                  </a:lnTo>
                  <a:lnTo>
                    <a:pt x="812800" y="558800"/>
                  </a:lnTo>
                  <a:lnTo>
                    <a:pt x="812800" y="254000"/>
                  </a:lnTo>
                  <a:lnTo>
                    <a:pt x="558800" y="254000"/>
                  </a:lnTo>
                  <a:lnTo>
                    <a:pt x="558800" y="0"/>
                  </a:lnTo>
                  <a:close/>
                </a:path>
              </a:pathLst>
            </a:custGeom>
            <a:solidFill>
              <a:srgbClr val="EBEAEA">
                <a:alpha val="40000"/>
              </a:srgbClr>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Box 10"/>
            <p:cNvSpPr txBox="1"/>
            <p:nvPr/>
          </p:nvSpPr>
          <p:spPr>
            <a:xfrm>
              <a:off x="190500" y="152400"/>
              <a:ext cx="431800" cy="469900"/>
            </a:xfrm>
            <a:prstGeom prst="rect">
              <a:avLst/>
            </a:prstGeom>
          </p:spPr>
          <p:txBody>
            <a:bodyPr lIns="33867" tIns="33867" rIns="33867" bIns="33867" rtlCol="0" anchor="ctr"/>
            <a:lstStyle/>
            <a:p>
              <a:pPr marL="0" marR="0" lvl="0" indent="0" algn="ctr" defTabSz="609630" rtl="0" eaLnBrk="1" fontAlgn="auto" latinLnBrk="0" hangingPunct="1">
                <a:lnSpc>
                  <a:spcPts val="1773"/>
                </a:lnSpc>
                <a:spcBef>
                  <a:spcPct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grpSp>
      <p:sp>
        <p:nvSpPr>
          <p:cNvPr id="2" name="TextBox 7">
            <a:extLst>
              <a:ext uri="{FF2B5EF4-FFF2-40B4-BE49-F238E27FC236}">
                <a16:creationId xmlns:a16="http://schemas.microsoft.com/office/drawing/2014/main" id="{2785756D-06D7-DF18-43B1-817CA91CB80C}"/>
              </a:ext>
            </a:extLst>
          </p:cNvPr>
          <p:cNvSpPr txBox="1"/>
          <p:nvPr/>
        </p:nvSpPr>
        <p:spPr>
          <a:xfrm>
            <a:off x="685800" y="2135841"/>
            <a:ext cx="9089133" cy="1025922"/>
          </a:xfrm>
          <a:prstGeom prst="rect">
            <a:avLst/>
          </a:prstGeom>
        </p:spPr>
        <p:txBody>
          <a:bodyPr wrap="square" lIns="0" tIns="0" rIns="0" bIns="0" rtlCol="0" anchor="t">
            <a:spAutoFit/>
          </a:bodyPr>
          <a:lstStyle/>
          <a:p>
            <a:pPr lvl="0" defTabSz="609630">
              <a:lnSpc>
                <a:spcPts val="4000"/>
              </a:lnSpc>
              <a:defRPr/>
            </a:pPr>
            <a:r>
              <a:rPr lang="en-US" sz="4000" b="1" dirty="0">
                <a:solidFill>
                  <a:srgbClr val="000000"/>
                </a:solidFill>
                <a:latin typeface="MC Saatchi Bold"/>
              </a:rPr>
              <a:t>Highlighting Gopuff Differentiators to Drive New User Growth</a:t>
            </a:r>
            <a:endParaRPr lang="en-US" sz="4000" b="1" dirty="0">
              <a:solidFill>
                <a:srgbClr val="000000"/>
              </a:solidFill>
              <a:latin typeface="MC Saatchi Bold"/>
              <a:sym typeface="MC Saatchi Bold"/>
            </a:endParaRPr>
          </a:p>
        </p:txBody>
      </p:sp>
      <p:sp>
        <p:nvSpPr>
          <p:cNvPr id="11" name="AutoShape 12">
            <a:extLst>
              <a:ext uri="{FF2B5EF4-FFF2-40B4-BE49-F238E27FC236}">
                <a16:creationId xmlns:a16="http://schemas.microsoft.com/office/drawing/2014/main" id="{A52971AF-86FA-C071-DDF2-6EA4AEE82D1D}"/>
              </a:ext>
            </a:extLst>
          </p:cNvPr>
          <p:cNvSpPr/>
          <p:nvPr/>
        </p:nvSpPr>
        <p:spPr>
          <a:xfrm flipV="1">
            <a:off x="2674321" y="5274202"/>
            <a:ext cx="0" cy="1039193"/>
          </a:xfrm>
          <a:prstGeom prst="line">
            <a:avLst/>
          </a:prstGeom>
          <a:ln w="38100" cap="flat">
            <a:solidFill>
              <a:srgbClr val="000000"/>
            </a:solidFill>
            <a:prstDash val="solid"/>
            <a:headEnd type="none" w="sm" len="sm"/>
            <a:tailEnd type="none" w="sm" len="sm"/>
          </a:ln>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pic>
        <p:nvPicPr>
          <p:cNvPr id="3" name="Picture 2">
            <a:extLst>
              <a:ext uri="{FF2B5EF4-FFF2-40B4-BE49-F238E27FC236}">
                <a16:creationId xmlns:a16="http://schemas.microsoft.com/office/drawing/2014/main" id="{D120088D-7B7F-55AA-C75B-C0F6E004BF1B}"/>
              </a:ext>
            </a:extLst>
          </p:cNvPr>
          <p:cNvPicPr>
            <a:picLocks noChangeAspect="1"/>
          </p:cNvPicPr>
          <p:nvPr/>
        </p:nvPicPr>
        <p:blipFill>
          <a:blip r:embed="rId3"/>
          <a:srcRect l="11962" t="37055" r="11057" b="37100"/>
          <a:stretch>
            <a:fillRect/>
          </a:stretch>
        </p:blipFill>
        <p:spPr>
          <a:xfrm>
            <a:off x="2789732" y="5418963"/>
            <a:ext cx="1878505" cy="63040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Freeform 16"/>
          <p:cNvSpPr/>
          <p:nvPr/>
        </p:nvSpPr>
        <p:spPr>
          <a:xfrm>
            <a:off x="10823963" y="5948584"/>
            <a:ext cx="1028700" cy="447232"/>
          </a:xfrm>
          <a:custGeom>
            <a:avLst/>
            <a:gdLst/>
            <a:ahLst/>
            <a:cxnLst/>
            <a:rect l="l" t="t" r="r" b="b"/>
            <a:pathLst>
              <a:path w="1543050" h="670848">
                <a:moveTo>
                  <a:pt x="0" y="0"/>
                </a:moveTo>
                <a:lnTo>
                  <a:pt x="1543050" y="0"/>
                </a:lnTo>
                <a:lnTo>
                  <a:pt x="1543050" y="670848"/>
                </a:lnTo>
                <a:lnTo>
                  <a:pt x="0" y="670848"/>
                </a:lnTo>
                <a:lnTo>
                  <a:pt x="0" y="0"/>
                </a:lnTo>
                <a:close/>
              </a:path>
            </a:pathLst>
          </a:custGeom>
          <a:blipFill>
            <a:blip r:embed="rId2"/>
            <a:stretch>
              <a:fillRect l="-115" r="-115"/>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grpSp>
        <p:nvGrpSpPr>
          <p:cNvPr id="3" name="Group 8">
            <a:extLst>
              <a:ext uri="{FF2B5EF4-FFF2-40B4-BE49-F238E27FC236}">
                <a16:creationId xmlns:a16="http://schemas.microsoft.com/office/drawing/2014/main" id="{8EE6BC41-A739-3A19-9242-99AE29DEC4D9}"/>
              </a:ext>
            </a:extLst>
          </p:cNvPr>
          <p:cNvGrpSpPr/>
          <p:nvPr/>
        </p:nvGrpSpPr>
        <p:grpSpPr>
          <a:xfrm>
            <a:off x="10339776" y="-285327"/>
            <a:ext cx="2057400" cy="2057400"/>
            <a:chOff x="0" y="0"/>
            <a:chExt cx="812800" cy="812800"/>
          </a:xfrm>
        </p:grpSpPr>
        <p:sp>
          <p:nvSpPr>
            <p:cNvPr id="17" name="Freeform 9">
              <a:extLst>
                <a:ext uri="{FF2B5EF4-FFF2-40B4-BE49-F238E27FC236}">
                  <a16:creationId xmlns:a16="http://schemas.microsoft.com/office/drawing/2014/main" id="{DCBADCDD-0A86-DD4D-E024-E62C6EBB0D91}"/>
                </a:ext>
              </a:extLst>
            </p:cNvPr>
            <p:cNvSpPr/>
            <p:nvPr/>
          </p:nvSpPr>
          <p:spPr>
            <a:xfrm>
              <a:off x="0" y="0"/>
              <a:ext cx="812800" cy="812800"/>
            </a:xfrm>
            <a:custGeom>
              <a:avLst/>
              <a:gdLst/>
              <a:ahLst/>
              <a:cxnLst/>
              <a:rect l="l" t="t" r="r" b="b"/>
              <a:pathLst>
                <a:path w="812800" h="812800">
                  <a:moveTo>
                    <a:pt x="558800" y="0"/>
                  </a:moveTo>
                  <a:lnTo>
                    <a:pt x="254000" y="0"/>
                  </a:lnTo>
                  <a:lnTo>
                    <a:pt x="254000" y="254000"/>
                  </a:lnTo>
                  <a:lnTo>
                    <a:pt x="0" y="254000"/>
                  </a:lnTo>
                  <a:lnTo>
                    <a:pt x="0" y="558800"/>
                  </a:lnTo>
                  <a:lnTo>
                    <a:pt x="254000" y="558800"/>
                  </a:lnTo>
                  <a:lnTo>
                    <a:pt x="254000" y="812800"/>
                  </a:lnTo>
                  <a:lnTo>
                    <a:pt x="558800" y="812800"/>
                  </a:lnTo>
                  <a:lnTo>
                    <a:pt x="558800" y="558800"/>
                  </a:lnTo>
                  <a:lnTo>
                    <a:pt x="812800" y="558800"/>
                  </a:lnTo>
                  <a:lnTo>
                    <a:pt x="812800" y="254000"/>
                  </a:lnTo>
                  <a:lnTo>
                    <a:pt x="558800" y="254000"/>
                  </a:lnTo>
                  <a:lnTo>
                    <a:pt x="558800" y="0"/>
                  </a:lnTo>
                  <a:close/>
                </a:path>
              </a:pathLst>
            </a:custGeom>
            <a:solidFill>
              <a:srgbClr val="EBEAEA">
                <a:alpha val="40000"/>
              </a:srgbClr>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18" name="TextBox 10">
              <a:extLst>
                <a:ext uri="{FF2B5EF4-FFF2-40B4-BE49-F238E27FC236}">
                  <a16:creationId xmlns:a16="http://schemas.microsoft.com/office/drawing/2014/main" id="{46D2C32C-1868-6B71-C12C-17B062B3C7E0}"/>
                </a:ext>
              </a:extLst>
            </p:cNvPr>
            <p:cNvSpPr txBox="1"/>
            <p:nvPr/>
          </p:nvSpPr>
          <p:spPr>
            <a:xfrm>
              <a:off x="190500" y="152400"/>
              <a:ext cx="431800" cy="469900"/>
            </a:xfrm>
            <a:prstGeom prst="rect">
              <a:avLst/>
            </a:prstGeom>
          </p:spPr>
          <p:txBody>
            <a:bodyPr lIns="33867" tIns="33867" rIns="33867" bIns="33867" rtlCol="0" anchor="ctr"/>
            <a:lstStyle/>
            <a:p>
              <a:pPr marL="0" marR="0" lvl="0" indent="0" algn="ctr" defTabSz="609630" rtl="0" eaLnBrk="1" fontAlgn="auto" latinLnBrk="0" hangingPunct="1">
                <a:lnSpc>
                  <a:spcPts val="1773"/>
                </a:lnSpc>
                <a:spcBef>
                  <a:spcPct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grpSp>
      <p:sp>
        <p:nvSpPr>
          <p:cNvPr id="2" name="TextBox 6">
            <a:extLst>
              <a:ext uri="{FF2B5EF4-FFF2-40B4-BE49-F238E27FC236}">
                <a16:creationId xmlns:a16="http://schemas.microsoft.com/office/drawing/2014/main" id="{1A15AA67-4917-0F4B-CF1E-A661EFE32935}"/>
              </a:ext>
            </a:extLst>
          </p:cNvPr>
          <p:cNvSpPr txBox="1"/>
          <p:nvPr/>
        </p:nvSpPr>
        <p:spPr>
          <a:xfrm>
            <a:off x="5031275" y="1772073"/>
            <a:ext cx="5196739" cy="410369"/>
          </a:xfrm>
          <a:prstGeom prst="rect">
            <a:avLst/>
          </a:prstGeom>
        </p:spPr>
        <p:txBody>
          <a:bodyPr wrap="square" lIns="0" tIns="0" rIns="0" bIns="0" rtlCol="0" anchor="t">
            <a:spAutoFit/>
          </a:bodyPr>
          <a:lstStyle/>
          <a:p>
            <a:pPr lvl="0" defTabSz="609630">
              <a:lnSpc>
                <a:spcPts val="3220"/>
              </a:lnSpc>
              <a:spcBef>
                <a:spcPct val="0"/>
              </a:spcBef>
              <a:defRPr/>
            </a:pPr>
            <a:r>
              <a:rPr lang="en-US" sz="2800" b="1" spc="-84" dirty="0">
                <a:solidFill>
                  <a:srgbClr val="193CFF"/>
                </a:solidFill>
                <a:latin typeface="MC Saatchi Bold"/>
              </a:rPr>
              <a:t>About Gopuff</a:t>
            </a:r>
            <a:endParaRPr lang="en-US" sz="2800" b="1" spc="-84" dirty="0">
              <a:solidFill>
                <a:srgbClr val="193CFF"/>
              </a:solidFill>
              <a:latin typeface="MC Saatchi Bold"/>
              <a:sym typeface="MC Saatchi Bold"/>
            </a:endParaRPr>
          </a:p>
        </p:txBody>
      </p:sp>
      <p:sp>
        <p:nvSpPr>
          <p:cNvPr id="4" name="TextBox 4">
            <a:extLst>
              <a:ext uri="{FF2B5EF4-FFF2-40B4-BE49-F238E27FC236}">
                <a16:creationId xmlns:a16="http://schemas.microsoft.com/office/drawing/2014/main" id="{3BD0BF10-D3E8-18D1-3F78-3B5AA0E8377F}"/>
              </a:ext>
            </a:extLst>
          </p:cNvPr>
          <p:cNvSpPr txBox="1"/>
          <p:nvPr/>
        </p:nvSpPr>
        <p:spPr>
          <a:xfrm>
            <a:off x="5031276" y="2211050"/>
            <a:ext cx="5308500" cy="1938992"/>
          </a:xfrm>
          <a:prstGeom prst="rect">
            <a:avLst/>
          </a:prstGeom>
        </p:spPr>
        <p:txBody>
          <a:bodyPr wrap="square" lIns="0" tIns="0" rIns="0" bIns="0" rtlCol="0" anchor="t">
            <a:spAutoFit/>
          </a:bodyPr>
          <a:lstStyle/>
          <a:p>
            <a:r>
              <a:rPr lang="en-US" sz="1400" dirty="0">
                <a:latin typeface="MC Saatchi Book" panose="02000000000000000000" pitchFamily="2" charset="0"/>
              </a:rPr>
              <a:t>Gopuff is a leading instant-commerce platform that delivers a wide range of consumer products in as fast as 15 minutes, including groceries, snacks, alcohol, and household items. Unlike most delivery apps that rely on third-party partners, Gopuff operates a fully owned and operated fulfillment network that gives them control over inventory, pricing, speed, and availability. With acceptance of SNAP EBT and HSA/FSA eligible products, Gopuff serves an increasingly broad spectrum of shoppers and needs.</a:t>
            </a:r>
          </a:p>
          <a:p>
            <a:endParaRPr lang="en-US" sz="1400" dirty="0">
              <a:latin typeface="MC Saatchi Book" panose="02000000000000000000" pitchFamily="2" charset="0"/>
            </a:endParaRPr>
          </a:p>
        </p:txBody>
      </p:sp>
      <p:pic>
        <p:nvPicPr>
          <p:cNvPr id="1026" name="Picture 2">
            <a:extLst>
              <a:ext uri="{FF2B5EF4-FFF2-40B4-BE49-F238E27FC236}">
                <a16:creationId xmlns:a16="http://schemas.microsoft.com/office/drawing/2014/main" id="{CEA8690F-94BC-BB4B-106A-4F2AEA8757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4572000" cy="6858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3AE6D-3CBA-2DA8-DA08-36C68A42ED74}"/>
            </a:ext>
          </a:extLst>
        </p:cNvPr>
        <p:cNvGrpSpPr/>
        <p:nvPr/>
      </p:nvGrpSpPr>
      <p:grpSpPr>
        <a:xfrm>
          <a:off x="0" y="0"/>
          <a:ext cx="0" cy="0"/>
          <a:chOff x="0" y="0"/>
          <a:chExt cx="0" cy="0"/>
        </a:xfrm>
      </p:grpSpPr>
      <p:pic>
        <p:nvPicPr>
          <p:cNvPr id="2050" name="Picture 2">
            <a:extLst>
              <a:ext uri="{FF2B5EF4-FFF2-40B4-BE49-F238E27FC236}">
                <a16:creationId xmlns:a16="http://schemas.microsoft.com/office/drawing/2014/main" id="{06A39341-64E7-24D9-94EE-277DB153CFE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098" r="15684"/>
          <a:stretch>
            <a:fillRect/>
          </a:stretch>
        </p:blipFill>
        <p:spPr bwMode="auto">
          <a:xfrm>
            <a:off x="0" y="0"/>
            <a:ext cx="4111437" cy="6858000"/>
          </a:xfrm>
          <a:prstGeom prst="rect">
            <a:avLst/>
          </a:prstGeom>
          <a:noFill/>
          <a:extLst>
            <a:ext uri="{909E8E84-426E-40DD-AFC4-6F175D3DCCD1}">
              <a14:hiddenFill xmlns:a14="http://schemas.microsoft.com/office/drawing/2010/main">
                <a:solidFill>
                  <a:srgbClr val="FFFFFF"/>
                </a:solidFill>
              </a14:hiddenFill>
            </a:ext>
          </a:extLst>
        </p:spPr>
      </p:pic>
      <p:sp>
        <p:nvSpPr>
          <p:cNvPr id="16" name="Freeform 16">
            <a:extLst>
              <a:ext uri="{FF2B5EF4-FFF2-40B4-BE49-F238E27FC236}">
                <a16:creationId xmlns:a16="http://schemas.microsoft.com/office/drawing/2014/main" id="{5913E462-DA45-B4B5-58A7-E29585DF6602}"/>
              </a:ext>
            </a:extLst>
          </p:cNvPr>
          <p:cNvSpPr/>
          <p:nvPr/>
        </p:nvSpPr>
        <p:spPr>
          <a:xfrm>
            <a:off x="10823963" y="5948584"/>
            <a:ext cx="1028700" cy="447232"/>
          </a:xfrm>
          <a:custGeom>
            <a:avLst/>
            <a:gdLst/>
            <a:ahLst/>
            <a:cxnLst/>
            <a:rect l="l" t="t" r="r" b="b"/>
            <a:pathLst>
              <a:path w="1543050" h="670848">
                <a:moveTo>
                  <a:pt x="0" y="0"/>
                </a:moveTo>
                <a:lnTo>
                  <a:pt x="1543050" y="0"/>
                </a:lnTo>
                <a:lnTo>
                  <a:pt x="1543050" y="670848"/>
                </a:lnTo>
                <a:lnTo>
                  <a:pt x="0" y="670848"/>
                </a:lnTo>
                <a:lnTo>
                  <a:pt x="0" y="0"/>
                </a:lnTo>
                <a:close/>
              </a:path>
            </a:pathLst>
          </a:custGeom>
          <a:blipFill>
            <a:blip r:embed="rId3"/>
            <a:stretch>
              <a:fillRect l="-115" r="-115"/>
            </a:stretch>
          </a:blip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grpSp>
        <p:nvGrpSpPr>
          <p:cNvPr id="3" name="Group 8">
            <a:extLst>
              <a:ext uri="{FF2B5EF4-FFF2-40B4-BE49-F238E27FC236}">
                <a16:creationId xmlns:a16="http://schemas.microsoft.com/office/drawing/2014/main" id="{EEB5F6D0-96EF-0A06-CE5D-22E617DE4F93}"/>
              </a:ext>
            </a:extLst>
          </p:cNvPr>
          <p:cNvGrpSpPr/>
          <p:nvPr/>
        </p:nvGrpSpPr>
        <p:grpSpPr>
          <a:xfrm>
            <a:off x="10339776" y="-285327"/>
            <a:ext cx="2057400" cy="2057400"/>
            <a:chOff x="0" y="0"/>
            <a:chExt cx="812800" cy="812800"/>
          </a:xfrm>
        </p:grpSpPr>
        <p:sp>
          <p:nvSpPr>
            <p:cNvPr id="17" name="Freeform 9">
              <a:extLst>
                <a:ext uri="{FF2B5EF4-FFF2-40B4-BE49-F238E27FC236}">
                  <a16:creationId xmlns:a16="http://schemas.microsoft.com/office/drawing/2014/main" id="{A562D550-1832-19FC-559B-C2BA6B265921}"/>
                </a:ext>
              </a:extLst>
            </p:cNvPr>
            <p:cNvSpPr/>
            <p:nvPr/>
          </p:nvSpPr>
          <p:spPr>
            <a:xfrm>
              <a:off x="0" y="0"/>
              <a:ext cx="812800" cy="812800"/>
            </a:xfrm>
            <a:custGeom>
              <a:avLst/>
              <a:gdLst/>
              <a:ahLst/>
              <a:cxnLst/>
              <a:rect l="l" t="t" r="r" b="b"/>
              <a:pathLst>
                <a:path w="812800" h="812800">
                  <a:moveTo>
                    <a:pt x="558800" y="0"/>
                  </a:moveTo>
                  <a:lnTo>
                    <a:pt x="254000" y="0"/>
                  </a:lnTo>
                  <a:lnTo>
                    <a:pt x="254000" y="254000"/>
                  </a:lnTo>
                  <a:lnTo>
                    <a:pt x="0" y="254000"/>
                  </a:lnTo>
                  <a:lnTo>
                    <a:pt x="0" y="558800"/>
                  </a:lnTo>
                  <a:lnTo>
                    <a:pt x="254000" y="558800"/>
                  </a:lnTo>
                  <a:lnTo>
                    <a:pt x="254000" y="812800"/>
                  </a:lnTo>
                  <a:lnTo>
                    <a:pt x="558800" y="812800"/>
                  </a:lnTo>
                  <a:lnTo>
                    <a:pt x="558800" y="558800"/>
                  </a:lnTo>
                  <a:lnTo>
                    <a:pt x="812800" y="558800"/>
                  </a:lnTo>
                  <a:lnTo>
                    <a:pt x="812800" y="254000"/>
                  </a:lnTo>
                  <a:lnTo>
                    <a:pt x="558800" y="254000"/>
                  </a:lnTo>
                  <a:lnTo>
                    <a:pt x="558800" y="0"/>
                  </a:lnTo>
                  <a:close/>
                </a:path>
              </a:pathLst>
            </a:custGeom>
            <a:solidFill>
              <a:srgbClr val="EBEAEA">
                <a:alpha val="40000"/>
              </a:srgbClr>
            </a:solidFill>
          </p:spPr>
          <p:txBody>
            <a:bodyPr/>
            <a:lstStyle/>
            <a:p>
              <a:pPr marL="0" marR="0" lvl="0" indent="0" algn="l" defTabSz="60963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18" name="TextBox 10">
              <a:extLst>
                <a:ext uri="{FF2B5EF4-FFF2-40B4-BE49-F238E27FC236}">
                  <a16:creationId xmlns:a16="http://schemas.microsoft.com/office/drawing/2014/main" id="{EF845FD2-6308-EB2F-78B9-9806B4FAB08D}"/>
                </a:ext>
              </a:extLst>
            </p:cNvPr>
            <p:cNvSpPr txBox="1"/>
            <p:nvPr/>
          </p:nvSpPr>
          <p:spPr>
            <a:xfrm>
              <a:off x="190500" y="152400"/>
              <a:ext cx="431800" cy="469900"/>
            </a:xfrm>
            <a:prstGeom prst="rect">
              <a:avLst/>
            </a:prstGeom>
          </p:spPr>
          <p:txBody>
            <a:bodyPr lIns="33867" tIns="33867" rIns="33867" bIns="33867" rtlCol="0" anchor="ctr"/>
            <a:lstStyle/>
            <a:p>
              <a:pPr marL="0" marR="0" lvl="0" indent="0" algn="ctr" defTabSz="609630" rtl="0" eaLnBrk="1" fontAlgn="auto" latinLnBrk="0" hangingPunct="1">
                <a:lnSpc>
                  <a:spcPts val="1773"/>
                </a:lnSpc>
                <a:spcBef>
                  <a:spcPct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a:ea typeface="+mn-ea"/>
                <a:cs typeface="+mn-cs"/>
              </a:endParaRPr>
            </a:p>
          </p:txBody>
        </p:sp>
      </p:grpSp>
      <p:sp>
        <p:nvSpPr>
          <p:cNvPr id="7" name="TextBox 6">
            <a:extLst>
              <a:ext uri="{FF2B5EF4-FFF2-40B4-BE49-F238E27FC236}">
                <a16:creationId xmlns:a16="http://schemas.microsoft.com/office/drawing/2014/main" id="{76CFF4E4-74E8-E3DE-CB04-5FCB28E57B99}"/>
              </a:ext>
            </a:extLst>
          </p:cNvPr>
          <p:cNvSpPr txBox="1"/>
          <p:nvPr/>
        </p:nvSpPr>
        <p:spPr>
          <a:xfrm>
            <a:off x="4607862" y="1675633"/>
            <a:ext cx="7390188" cy="410369"/>
          </a:xfrm>
          <a:prstGeom prst="rect">
            <a:avLst/>
          </a:prstGeom>
        </p:spPr>
        <p:txBody>
          <a:bodyPr wrap="square" lIns="0" tIns="0" rIns="0" bIns="0" rtlCol="0" anchor="t">
            <a:spAutoFit/>
          </a:bodyPr>
          <a:lstStyle/>
          <a:p>
            <a:pPr defTabSz="609630">
              <a:lnSpc>
                <a:spcPts val="3220"/>
              </a:lnSpc>
              <a:spcBef>
                <a:spcPct val="0"/>
              </a:spcBef>
              <a:defRPr/>
            </a:pPr>
            <a:r>
              <a:rPr lang="en-US" sz="2800" b="1" spc="-84" dirty="0">
                <a:solidFill>
                  <a:srgbClr val="193CFF"/>
                </a:solidFill>
                <a:latin typeface="MC Saatchi Bold"/>
              </a:rPr>
              <a:t>Objective​</a:t>
            </a:r>
            <a:endParaRPr lang="en-US" sz="2800" b="1" spc="-84" dirty="0">
              <a:solidFill>
                <a:srgbClr val="193CFF"/>
              </a:solidFill>
              <a:latin typeface="MC Saatchi Bold"/>
              <a:sym typeface="MC Saatchi Bold"/>
            </a:endParaRPr>
          </a:p>
        </p:txBody>
      </p:sp>
      <p:sp>
        <p:nvSpPr>
          <p:cNvPr id="9" name="TextBox 8">
            <a:extLst>
              <a:ext uri="{FF2B5EF4-FFF2-40B4-BE49-F238E27FC236}">
                <a16:creationId xmlns:a16="http://schemas.microsoft.com/office/drawing/2014/main" id="{8C968C14-9B89-91BA-5E4B-D7B004DFC8CF}"/>
              </a:ext>
            </a:extLst>
          </p:cNvPr>
          <p:cNvSpPr txBox="1"/>
          <p:nvPr/>
        </p:nvSpPr>
        <p:spPr>
          <a:xfrm>
            <a:off x="4535438" y="2044080"/>
            <a:ext cx="7861738" cy="371577"/>
          </a:xfrm>
          <a:prstGeom prst="rect">
            <a:avLst/>
          </a:prstGeom>
          <a:noFill/>
        </p:spPr>
        <p:txBody>
          <a:bodyPr wrap="square">
            <a:spAutoFit/>
          </a:bodyPr>
          <a:lstStyle/>
          <a:p>
            <a:pPr lvl="0">
              <a:lnSpc>
                <a:spcPts val="2400"/>
              </a:lnSpc>
            </a:pPr>
            <a:r>
              <a:rPr lang="en-US" sz="1600" b="1" spc="-72" dirty="0">
                <a:solidFill>
                  <a:srgbClr val="000000"/>
                </a:solidFill>
                <a:latin typeface="MC Saatchi Bold"/>
              </a:rPr>
              <a:t>Drive awareness and first-time Gopuff orders</a:t>
            </a:r>
            <a:endParaRPr lang="en-US" sz="1600" b="1" spc="-72" dirty="0">
              <a:solidFill>
                <a:srgbClr val="000000"/>
              </a:solidFill>
              <a:latin typeface="MC Saatchi Bold"/>
              <a:sym typeface="MC Saatchi Bold"/>
            </a:endParaRPr>
          </a:p>
        </p:txBody>
      </p:sp>
      <p:sp>
        <p:nvSpPr>
          <p:cNvPr id="11" name="TextBox 10">
            <a:extLst>
              <a:ext uri="{FF2B5EF4-FFF2-40B4-BE49-F238E27FC236}">
                <a16:creationId xmlns:a16="http://schemas.microsoft.com/office/drawing/2014/main" id="{966EF62E-D9DA-7C21-BDA0-EDACF27EB31F}"/>
              </a:ext>
            </a:extLst>
          </p:cNvPr>
          <p:cNvSpPr txBox="1"/>
          <p:nvPr/>
        </p:nvSpPr>
        <p:spPr>
          <a:xfrm>
            <a:off x="4535438" y="2309738"/>
            <a:ext cx="5915059" cy="1169551"/>
          </a:xfrm>
          <a:prstGeom prst="rect">
            <a:avLst/>
          </a:prstGeom>
          <a:noFill/>
        </p:spPr>
        <p:txBody>
          <a:bodyPr wrap="square">
            <a:spAutoFit/>
          </a:bodyPr>
          <a:lstStyle/>
          <a:p>
            <a:pPr>
              <a:spcAft>
                <a:spcPts val="75"/>
              </a:spcAft>
              <a:defRPr/>
            </a:pPr>
            <a:r>
              <a:rPr lang="en-US" sz="1400" dirty="0" err="1">
                <a:solidFill>
                  <a:srgbClr val="000000"/>
                </a:solidFill>
                <a:latin typeface="MC Saatchi Book" panose="02000000000000000000" pitchFamily="2" charset="0"/>
              </a:rPr>
              <a:t>Gopuff’s</a:t>
            </a:r>
            <a:r>
              <a:rPr lang="en-US" sz="1400" dirty="0">
                <a:solidFill>
                  <a:srgbClr val="000000"/>
                </a:solidFill>
                <a:latin typeface="MC Saatchi Book" panose="02000000000000000000" pitchFamily="2" charset="0"/>
              </a:rPr>
              <a:t> priority is to grow new users by helping consumers understand what the service offers and why it matters in their day-to-day lives. By highlighting </a:t>
            </a:r>
            <a:r>
              <a:rPr lang="en-US" sz="1400" dirty="0" err="1">
                <a:solidFill>
                  <a:srgbClr val="000000"/>
                </a:solidFill>
                <a:latin typeface="MC Saatchi Book" panose="02000000000000000000" pitchFamily="2" charset="0"/>
              </a:rPr>
              <a:t>Gopuff’s</a:t>
            </a:r>
            <a:r>
              <a:rPr lang="en-US" sz="1400" dirty="0">
                <a:solidFill>
                  <a:srgbClr val="000000"/>
                </a:solidFill>
                <a:latin typeface="MC Saatchi Book" panose="02000000000000000000" pitchFamily="2" charset="0"/>
              </a:rPr>
              <a:t> relevance across busy lifestyles and a range of shopping needs through engaging content, influencers aimed to prompt first-time orders in a natural and compelling way.</a:t>
            </a:r>
            <a:endParaRPr lang="en-US" sz="1400" dirty="0">
              <a:solidFill>
                <a:srgbClr val="000000"/>
              </a:solidFill>
              <a:latin typeface="MC Saatchi Book" panose="02000000000000000000" pitchFamily="2" charset="0"/>
              <a:sym typeface="MC Saatchi Light"/>
            </a:endParaRPr>
          </a:p>
        </p:txBody>
      </p:sp>
      <p:sp>
        <p:nvSpPr>
          <p:cNvPr id="14" name="TextBox 13">
            <a:extLst>
              <a:ext uri="{FF2B5EF4-FFF2-40B4-BE49-F238E27FC236}">
                <a16:creationId xmlns:a16="http://schemas.microsoft.com/office/drawing/2014/main" id="{719C308A-C849-0D09-61FF-4B53B9684828}"/>
              </a:ext>
            </a:extLst>
          </p:cNvPr>
          <p:cNvSpPr txBox="1"/>
          <p:nvPr/>
        </p:nvSpPr>
        <p:spPr>
          <a:xfrm>
            <a:off x="4535438" y="3387369"/>
            <a:ext cx="6199322" cy="523220"/>
          </a:xfrm>
          <a:prstGeom prst="rect">
            <a:avLst/>
          </a:prstGeom>
          <a:noFill/>
        </p:spPr>
        <p:txBody>
          <a:bodyPr wrap="square">
            <a:spAutoFit/>
          </a:bodyPr>
          <a:lstStyle/>
          <a:p>
            <a:r>
              <a:rPr lang="en-US" sz="2800" b="1" spc="-84" dirty="0">
                <a:solidFill>
                  <a:srgbClr val="193CFF"/>
                </a:solidFill>
                <a:latin typeface="MC Saatchi Bold"/>
              </a:rPr>
              <a:t>Challenge​</a:t>
            </a:r>
          </a:p>
        </p:txBody>
      </p:sp>
      <p:sp>
        <p:nvSpPr>
          <p:cNvPr id="19" name="TextBox 18">
            <a:extLst>
              <a:ext uri="{FF2B5EF4-FFF2-40B4-BE49-F238E27FC236}">
                <a16:creationId xmlns:a16="http://schemas.microsoft.com/office/drawing/2014/main" id="{BFB50E6D-9A9C-80D3-B561-F403C843BC7D}"/>
              </a:ext>
            </a:extLst>
          </p:cNvPr>
          <p:cNvSpPr txBox="1"/>
          <p:nvPr/>
        </p:nvSpPr>
        <p:spPr>
          <a:xfrm>
            <a:off x="4553544" y="3824776"/>
            <a:ext cx="6199322" cy="371577"/>
          </a:xfrm>
          <a:prstGeom prst="rect">
            <a:avLst/>
          </a:prstGeom>
          <a:noFill/>
        </p:spPr>
        <p:txBody>
          <a:bodyPr wrap="square">
            <a:spAutoFit/>
          </a:bodyPr>
          <a:lstStyle/>
          <a:p>
            <a:pPr>
              <a:lnSpc>
                <a:spcPts val="2400"/>
              </a:lnSpc>
            </a:pPr>
            <a:r>
              <a:rPr lang="en-US" sz="1600" b="1" spc="-72" dirty="0">
                <a:solidFill>
                  <a:srgbClr val="000000"/>
                </a:solidFill>
                <a:latin typeface="MC Saatchi Bold"/>
                <a:sym typeface="MC Saatchi Bold"/>
              </a:rPr>
              <a:t>Standing out in a high-expectation delivery market</a:t>
            </a:r>
          </a:p>
        </p:txBody>
      </p:sp>
      <p:sp>
        <p:nvSpPr>
          <p:cNvPr id="28" name="TextBox 27">
            <a:extLst>
              <a:ext uri="{FF2B5EF4-FFF2-40B4-BE49-F238E27FC236}">
                <a16:creationId xmlns:a16="http://schemas.microsoft.com/office/drawing/2014/main" id="{E55EB829-E633-8126-D6F5-15E2F0186B1C}"/>
              </a:ext>
            </a:extLst>
          </p:cNvPr>
          <p:cNvSpPr txBox="1"/>
          <p:nvPr/>
        </p:nvSpPr>
        <p:spPr>
          <a:xfrm>
            <a:off x="4553544" y="4122870"/>
            <a:ext cx="5915059" cy="1169551"/>
          </a:xfrm>
          <a:prstGeom prst="rect">
            <a:avLst/>
          </a:prstGeom>
          <a:noFill/>
        </p:spPr>
        <p:txBody>
          <a:bodyPr wrap="square">
            <a:spAutoFit/>
          </a:bodyPr>
          <a:lstStyle/>
          <a:p>
            <a:r>
              <a:rPr lang="en-US" sz="1400" dirty="0">
                <a:solidFill>
                  <a:srgbClr val="000000"/>
                </a:solidFill>
                <a:latin typeface="MC Saatchi Book" panose="02000000000000000000" pitchFamily="2" charset="0"/>
              </a:rPr>
              <a:t>Shoppers increasingly expect delivery to be fast, affordable, and reliable. At the same time, shoppers are more closely comparing fees, product prices, and speed before choosing where to place an order. To drive trial, Gopuff needs to clearly articulate its everyday value while speaking to many types of instant-need moments across categories.</a:t>
            </a:r>
          </a:p>
        </p:txBody>
      </p:sp>
    </p:spTree>
    <p:extLst>
      <p:ext uri="{BB962C8B-B14F-4D97-AF65-F5344CB8AC3E}">
        <p14:creationId xmlns:p14="http://schemas.microsoft.com/office/powerpoint/2010/main" val="360425644"/>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2346</TotalTime>
  <Words>230</Words>
  <Application>Microsoft Macintosh PowerPoint</Application>
  <PresentationFormat>Widescreen</PresentationFormat>
  <Paragraphs>10</Paragraphs>
  <Slides>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vt:i4>
      </vt:variant>
    </vt:vector>
  </HeadingPairs>
  <TitlesOfParts>
    <vt:vector size="9" baseType="lpstr">
      <vt:lpstr>Aptos</vt:lpstr>
      <vt:lpstr>Arial</vt:lpstr>
      <vt:lpstr>Calibri</vt:lpstr>
      <vt:lpstr>MC Saatchi Bold</vt:lpstr>
      <vt:lpstr>MC Saatchi Book</vt:lpstr>
      <vt:lpstr>1_Office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Tanya Bose</dc:creator>
  <cp:lastModifiedBy>Jennifer Sudo</cp:lastModifiedBy>
  <cp:revision>22</cp:revision>
  <dcterms:created xsi:type="dcterms:W3CDTF">2025-10-24T07:09:08Z</dcterms:created>
  <dcterms:modified xsi:type="dcterms:W3CDTF">2026-03-05T00:24:05Z</dcterms:modified>
</cp:coreProperties>
</file>